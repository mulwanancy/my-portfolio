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82" autoAdjust="0"/>
    <p:restoredTop sz="94660"/>
  </p:normalViewPr>
  <p:slideViewPr>
    <p:cSldViewPr snapToGrid="0">
      <p:cViewPr varScale="1">
        <p:scale>
          <a:sx n="70" d="100"/>
          <a:sy n="70" d="100"/>
        </p:scale>
        <p:origin x="49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6" d="100"/>
          <a:sy n="56" d="100"/>
        </p:scale>
        <p:origin x="2856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C7EF46-1D52-48BF-9450-689CACA0EC89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651727-C02E-41FC-817D-B903F467A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841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51727-C02E-41FC-817D-B903F467A85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285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2D75D-2B3F-2B3B-06D6-80A2B8698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352292"/>
            <a:ext cx="8843749" cy="1503804"/>
          </a:xfrm>
        </p:spPr>
        <p:txBody>
          <a:bodyPr>
            <a:noAutofit/>
          </a:bodyPr>
          <a:lstStyle/>
          <a:p>
            <a:pPr algn="l"/>
            <a:r>
              <a:rPr lang="en-US" sz="4000" b="1" dirty="0"/>
              <a:t>	KILUMI DANCE KIKAMBA TRADITIONAL                          					MUSIC AND DANCE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C0ED98-7735-EEA4-BC86-3AA3BF8EA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6733" y="3272328"/>
            <a:ext cx="7197726" cy="1405467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/>
              <a:t>NAME:</a:t>
            </a:r>
            <a:r>
              <a:rPr lang="en-US" sz="2400" dirty="0"/>
              <a:t> NANCY MWENDE MULWA</a:t>
            </a:r>
            <a:br>
              <a:rPr lang="en-US" sz="2400" dirty="0"/>
            </a:br>
            <a:r>
              <a:rPr lang="en-US" sz="2400" b="1" dirty="0"/>
              <a:t>REGISTRATION NO.:</a:t>
            </a:r>
            <a:r>
              <a:rPr lang="en-US" sz="2400" dirty="0"/>
              <a:t> C027-01-1027/2022</a:t>
            </a:r>
            <a:br>
              <a:rPr lang="en-US" sz="2400" dirty="0"/>
            </a:br>
            <a:r>
              <a:rPr lang="en-US" sz="2400" b="1" dirty="0"/>
              <a:t>COURSE:</a:t>
            </a:r>
            <a:r>
              <a:rPr lang="en-US" sz="2400" dirty="0"/>
              <a:t> BBIT 4.2</a:t>
            </a:r>
          </a:p>
        </p:txBody>
      </p:sp>
    </p:spTree>
    <p:extLst>
      <p:ext uri="{BB962C8B-B14F-4D97-AF65-F5344CB8AC3E}">
        <p14:creationId xmlns:p14="http://schemas.microsoft.com/office/powerpoint/2010/main" val="4111348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C8221-5809-F24F-5594-7C3447B92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546" y="514065"/>
            <a:ext cx="12127411" cy="162800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INTRODUCTION</a:t>
            </a:r>
            <a:br>
              <a:rPr lang="en-US" b="1" dirty="0"/>
            </a:br>
            <a:br>
              <a:rPr lang="en-US" b="1" dirty="0"/>
            </a:br>
            <a:br>
              <a:rPr lang="en-US" dirty="0"/>
            </a:br>
            <a:r>
              <a:rPr lang="en-US" sz="2700" b="1" dirty="0" err="1"/>
              <a:t>Kilumi</a:t>
            </a:r>
            <a:r>
              <a:rPr lang="en-US" sz="2700" b="1" dirty="0"/>
              <a:t> Dance and </a:t>
            </a:r>
            <a:r>
              <a:rPr lang="en-US" sz="2700" b="1" dirty="0" err="1"/>
              <a:t>Kikamba</a:t>
            </a:r>
            <a:r>
              <a:rPr lang="en-US" sz="2700" b="1" dirty="0"/>
              <a:t> Culture</a:t>
            </a:r>
            <a:br>
              <a:rPr lang="en-US" sz="2700" dirty="0"/>
            </a:br>
            <a:endParaRPr lang="en-US" sz="2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1DB75-FD8B-0854-53C6-A8A33BED9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405719"/>
            <a:ext cx="10131425" cy="4385481"/>
          </a:xfrm>
        </p:spPr>
        <p:txBody>
          <a:bodyPr/>
          <a:lstStyle/>
          <a:p>
            <a:pPr lvl="0"/>
            <a:r>
              <a:rPr lang="en-US" dirty="0" err="1"/>
              <a:t>Kilumi</a:t>
            </a:r>
            <a:r>
              <a:rPr lang="en-US" dirty="0"/>
              <a:t> is a traditional </a:t>
            </a:r>
            <a:r>
              <a:rPr lang="en-US" dirty="0" err="1"/>
              <a:t>Kikamba</a:t>
            </a:r>
            <a:r>
              <a:rPr lang="en-US" dirty="0"/>
              <a:t> music and dance performed during cultural ceremonies, festivals, and community gatherings.</a:t>
            </a:r>
          </a:p>
          <a:p>
            <a:pPr lvl="0"/>
            <a:r>
              <a:rPr lang="en-US" dirty="0"/>
              <a:t>This art form is a vital part of </a:t>
            </a:r>
            <a:r>
              <a:rPr lang="en-US" dirty="0" err="1"/>
              <a:t>Kikamba</a:t>
            </a:r>
            <a:r>
              <a:rPr lang="en-US" dirty="0"/>
              <a:t> culture because it preserves historical stories, values, and social norms.</a:t>
            </a:r>
          </a:p>
          <a:p>
            <a:pPr lvl="0"/>
            <a:r>
              <a:rPr lang="en-US" dirty="0" err="1"/>
              <a:t>Kilumi</a:t>
            </a:r>
            <a:r>
              <a:rPr lang="en-US" dirty="0"/>
              <a:t> combines rhythmic movements, traditional songs, and instruments to convey emotions, history, and communal messages.</a:t>
            </a:r>
          </a:p>
          <a:p>
            <a:pPr lvl="0"/>
            <a:r>
              <a:rPr lang="en-US" dirty="0"/>
              <a:t>Example: During harvest celebrations, </a:t>
            </a:r>
            <a:r>
              <a:rPr lang="en-US" dirty="0" err="1"/>
              <a:t>Kilumi</a:t>
            </a:r>
            <a:r>
              <a:rPr lang="en-US" dirty="0"/>
              <a:t> tells stories of agricultural success and community cooperation.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061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3655B-DAA6-C98D-B72B-35E6077D8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HISTORY AND ORIGINS</a:t>
            </a:r>
            <a:br>
              <a:rPr lang="en-US" b="1" dirty="0"/>
            </a:br>
            <a:br>
              <a:rPr lang="en-US" b="1" dirty="0"/>
            </a:br>
            <a:br>
              <a:rPr lang="en-US" dirty="0"/>
            </a:br>
            <a:r>
              <a:rPr lang="en-US" sz="2700" b="1" dirty="0" err="1"/>
              <a:t>Origins</a:t>
            </a:r>
            <a:r>
              <a:rPr lang="en-US" sz="2700" b="1" dirty="0"/>
              <a:t> of </a:t>
            </a:r>
            <a:r>
              <a:rPr lang="en-US" sz="2700" b="1" dirty="0" err="1"/>
              <a:t>Kilumi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D682A-A557-D2E4-C9E0-96F2E9EE9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736979"/>
            <a:ext cx="10131425" cy="5054221"/>
          </a:xfrm>
        </p:spPr>
        <p:txBody>
          <a:bodyPr/>
          <a:lstStyle/>
          <a:p>
            <a:pPr lvl="0"/>
            <a:r>
              <a:rPr lang="en-US" dirty="0" err="1"/>
              <a:t>Kilumi</a:t>
            </a:r>
            <a:r>
              <a:rPr lang="en-US" dirty="0"/>
              <a:t> originated among the Kamba people as a celebration of community events, rites of passage, and important ceremonies.</a:t>
            </a:r>
          </a:p>
          <a:p>
            <a:pPr lvl="0"/>
            <a:r>
              <a:rPr lang="en-US" dirty="0"/>
              <a:t>Historically performed outdoors, often led by elder musicians and experienced dancers.</a:t>
            </a:r>
          </a:p>
          <a:p>
            <a:pPr lvl="0"/>
            <a:r>
              <a:rPr lang="en-US" dirty="0"/>
              <a:t>Served multiple purposes: entertainment, education, and preserving oral history.</a:t>
            </a:r>
          </a:p>
          <a:p>
            <a:pPr lvl="0"/>
            <a:r>
              <a:rPr lang="en-US" dirty="0"/>
              <a:t>Example: </a:t>
            </a:r>
            <a:r>
              <a:rPr lang="en-US" dirty="0" err="1"/>
              <a:t>Kilumi</a:t>
            </a:r>
            <a:r>
              <a:rPr lang="en-US" dirty="0"/>
              <a:t> was performed to celebrate successful harvests, marriages, or the initiation of young community members.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931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CC48E-5EDB-BBAF-6078-DF507136B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TRADITIONAL INSTRUMENTS</a:t>
            </a:r>
            <a:br>
              <a:rPr lang="en-US" b="1" dirty="0"/>
            </a:br>
            <a:br>
              <a:rPr lang="en-US" b="1" dirty="0"/>
            </a:br>
            <a:br>
              <a:rPr lang="en-US" dirty="0"/>
            </a:br>
            <a:r>
              <a:rPr lang="en-US" sz="2700" b="1" dirty="0" err="1"/>
              <a:t>Instruments</a:t>
            </a:r>
            <a:r>
              <a:rPr lang="en-US" b="1" dirty="0"/>
              <a:t> </a:t>
            </a:r>
            <a:r>
              <a:rPr lang="en-US" sz="2700" b="1" dirty="0"/>
              <a:t>Used</a:t>
            </a:r>
            <a:r>
              <a:rPr lang="en-US" b="1" dirty="0"/>
              <a:t> </a:t>
            </a:r>
            <a:r>
              <a:rPr lang="en-US" sz="2700" b="1" dirty="0"/>
              <a:t>in</a:t>
            </a:r>
            <a:r>
              <a:rPr lang="en-US" b="1" dirty="0"/>
              <a:t> </a:t>
            </a:r>
            <a:r>
              <a:rPr lang="en-US" sz="2700" b="1" dirty="0" err="1"/>
              <a:t>Kilumi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DAF4A-36C7-9819-6900-2356409F7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609601"/>
            <a:ext cx="10131425" cy="5181600"/>
          </a:xfrm>
        </p:spPr>
        <p:txBody>
          <a:bodyPr/>
          <a:lstStyle/>
          <a:p>
            <a:pPr lvl="0"/>
            <a:r>
              <a:rPr lang="en-US" b="1" dirty="0"/>
              <a:t>Ngoma (Drums):</a:t>
            </a:r>
            <a:r>
              <a:rPr lang="en-US" dirty="0"/>
              <a:t> Provide strong rhythmic beats guiding the dance.</a:t>
            </a:r>
          </a:p>
          <a:p>
            <a:pPr lvl="0"/>
            <a:r>
              <a:rPr lang="en-US" b="1" dirty="0"/>
              <a:t>Marimba and Rattles:</a:t>
            </a:r>
            <a:r>
              <a:rPr lang="en-US" dirty="0"/>
              <a:t> Add melody, highlight rhythms, and energize the performance.</a:t>
            </a:r>
          </a:p>
          <a:p>
            <a:pPr lvl="0"/>
            <a:r>
              <a:rPr lang="en-US" b="1" dirty="0"/>
              <a:t>Stringed Instruments:</a:t>
            </a:r>
            <a:r>
              <a:rPr lang="en-US" dirty="0"/>
              <a:t> Complement the drums and vocals with harmonies.</a:t>
            </a:r>
          </a:p>
          <a:p>
            <a:pPr lvl="0"/>
            <a:r>
              <a:rPr lang="en-US" b="1" dirty="0"/>
              <a:t>Vocals:</a:t>
            </a:r>
            <a:r>
              <a:rPr lang="en-US" dirty="0"/>
              <a:t> Singers narrate stories, social messages, and express community emotions.</a:t>
            </a:r>
          </a:p>
          <a:p>
            <a:r>
              <a:rPr lang="en-US" dirty="0"/>
              <a:t>Example: In a wedding ceremony, the drummers lead the rhythm while women and men perform synchronized steps reflecting the story of the couple</a:t>
            </a:r>
          </a:p>
        </p:txBody>
      </p:sp>
    </p:spTree>
    <p:extLst>
      <p:ext uri="{BB962C8B-B14F-4D97-AF65-F5344CB8AC3E}">
        <p14:creationId xmlns:p14="http://schemas.microsoft.com/office/powerpoint/2010/main" val="327176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0B59F-16D1-368E-F108-F95CA3893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DANCE MOVEMENTS</a:t>
            </a: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r>
              <a:rPr lang="en-US" sz="2700" b="1" dirty="0"/>
              <a:t>Characteristics of </a:t>
            </a:r>
            <a:r>
              <a:rPr lang="en-US" sz="2700" b="1" dirty="0" err="1"/>
              <a:t>Kilumi</a:t>
            </a:r>
            <a:r>
              <a:rPr lang="en-US" sz="2700" b="1" dirty="0"/>
              <a:t> Dance</a:t>
            </a:r>
            <a:br>
              <a:rPr lang="en-US" sz="320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6A3E5-FA24-DE3C-B17D-9E73A14B2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255594"/>
            <a:ext cx="10131425" cy="4535606"/>
          </a:xfrm>
        </p:spPr>
        <p:txBody>
          <a:bodyPr/>
          <a:lstStyle/>
          <a:p>
            <a:pPr lvl="0"/>
            <a:r>
              <a:rPr lang="en-US" dirty="0"/>
              <a:t>Dancers move in synchronization with the drum beats and songs.</a:t>
            </a:r>
            <a:endParaRPr lang="en-US" sz="1600" dirty="0"/>
          </a:p>
          <a:p>
            <a:pPr lvl="0"/>
            <a:r>
              <a:rPr lang="en-US" dirty="0"/>
              <a:t>Movements include coordinated footwork, jumps, spins, and expressive hand gestures.</a:t>
            </a:r>
            <a:endParaRPr lang="en-US" sz="1600" dirty="0"/>
          </a:p>
          <a:p>
            <a:pPr lvl="0"/>
            <a:r>
              <a:rPr lang="en-US" dirty="0"/>
              <a:t>Each movement conveys a story, emotion, or social message.</a:t>
            </a:r>
            <a:endParaRPr lang="en-US" sz="1600" dirty="0"/>
          </a:p>
          <a:p>
            <a:pPr lvl="0"/>
            <a:r>
              <a:rPr lang="en-US" dirty="0"/>
              <a:t>Group formations emphasize community unity and cooperation.</a:t>
            </a:r>
            <a:endParaRPr lang="en-US" sz="1600" dirty="0"/>
          </a:p>
          <a:p>
            <a:pPr lvl="0"/>
            <a:r>
              <a:rPr lang="en-US" dirty="0"/>
              <a:t>Gender-specific roles:</a:t>
            </a:r>
            <a:endParaRPr lang="en-US" sz="1600" dirty="0"/>
          </a:p>
          <a:p>
            <a:pPr lvl="1"/>
            <a:r>
              <a:rPr lang="en-US" b="1" dirty="0"/>
              <a:t>Men:</a:t>
            </a:r>
            <a:r>
              <a:rPr lang="en-US" dirty="0"/>
              <a:t> Lead energetic movements, drum playing, and guide rhythm.</a:t>
            </a:r>
            <a:endParaRPr lang="en-US" sz="1400" dirty="0"/>
          </a:p>
          <a:p>
            <a:r>
              <a:rPr lang="en-US" b="1" dirty="0"/>
              <a:t>Women:</a:t>
            </a:r>
            <a:r>
              <a:rPr lang="en-US" dirty="0"/>
              <a:t> Perform graceful, synchronized steps, singing, and occasional accompaniment of instruments</a:t>
            </a:r>
          </a:p>
        </p:txBody>
      </p:sp>
    </p:spTree>
    <p:extLst>
      <p:ext uri="{BB962C8B-B14F-4D97-AF65-F5344CB8AC3E}">
        <p14:creationId xmlns:p14="http://schemas.microsoft.com/office/powerpoint/2010/main" val="140948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A9B84-8E04-15C1-412F-36C47B167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SOCIAL AND CULTURAL SIGNIFICANCE</a:t>
            </a:r>
            <a:br>
              <a:rPr lang="en-US" b="1" dirty="0"/>
            </a:br>
            <a:br>
              <a:rPr lang="en-US" b="1" dirty="0"/>
            </a:br>
            <a:br>
              <a:rPr lang="en-US" dirty="0"/>
            </a:br>
            <a:r>
              <a:rPr lang="en-US" sz="2700" b="1" dirty="0"/>
              <a:t>Importance of </a:t>
            </a:r>
            <a:r>
              <a:rPr lang="en-US" sz="2700" b="1" dirty="0" err="1"/>
              <a:t>Kilumi</a:t>
            </a:r>
            <a:br>
              <a:rPr lang="en-US" sz="2700" dirty="0"/>
            </a:br>
            <a:endParaRPr lang="en-US" sz="2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AC88A-6FA1-345B-3430-27B11DDE6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269243"/>
            <a:ext cx="10131425" cy="4521958"/>
          </a:xfrm>
        </p:spPr>
        <p:txBody>
          <a:bodyPr/>
          <a:lstStyle/>
          <a:p>
            <a:pPr lvl="0"/>
            <a:r>
              <a:rPr lang="en-US" dirty="0"/>
              <a:t>Preserves history, legends, proverbs, and traditional values of the Kamba people.</a:t>
            </a:r>
          </a:p>
          <a:p>
            <a:pPr lvl="0"/>
            <a:r>
              <a:rPr lang="en-US" dirty="0"/>
              <a:t>Strengthens social bonds and promotes communal harmony.</a:t>
            </a:r>
          </a:p>
          <a:p>
            <a:pPr lvl="0"/>
            <a:r>
              <a:rPr lang="en-US" dirty="0"/>
              <a:t>Educates community members about cultural morals, ethics, and history.</a:t>
            </a:r>
          </a:p>
          <a:p>
            <a:pPr lvl="0"/>
            <a:r>
              <a:rPr lang="en-US" dirty="0"/>
              <a:t>Encourages participation from all ages, including youth and elders.</a:t>
            </a:r>
          </a:p>
          <a:p>
            <a:pPr lvl="0"/>
            <a:r>
              <a:rPr lang="en-US" dirty="0"/>
              <a:t>Example: During community gatherings, </a:t>
            </a:r>
            <a:r>
              <a:rPr lang="en-US" dirty="0" err="1"/>
              <a:t>Kilumi</a:t>
            </a:r>
            <a:r>
              <a:rPr lang="en-US" dirty="0"/>
              <a:t> teaches lessons about cooperation and respect for elders.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809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70AEE-FE6F-FB32-8E0D-F1BF27097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GENDER ROLES IN KILUMI</a:t>
            </a:r>
            <a:br>
              <a:rPr lang="en-US" b="1" dirty="0"/>
            </a:br>
            <a:br>
              <a:rPr lang="en-US" b="1" dirty="0"/>
            </a:br>
            <a:br>
              <a:rPr lang="en-US" dirty="0"/>
            </a:br>
            <a:r>
              <a:rPr lang="en-US" sz="2700" b="1" dirty="0"/>
              <a:t>Men and Women in </a:t>
            </a:r>
            <a:r>
              <a:rPr lang="en-US" sz="2700" b="1" dirty="0" err="1"/>
              <a:t>Kilumi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83115-18F5-5EC4-5836-6CF032B20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91069"/>
            <a:ext cx="10131425" cy="5600132"/>
          </a:xfrm>
        </p:spPr>
        <p:txBody>
          <a:bodyPr/>
          <a:lstStyle/>
          <a:p>
            <a:pPr lvl="0"/>
            <a:r>
              <a:rPr lang="en-US" b="1" dirty="0"/>
              <a:t>Men:</a:t>
            </a:r>
            <a:r>
              <a:rPr lang="en-US" dirty="0"/>
              <a:t> Lead the dance, perform vigorous movements, play drums, and maintain rhythm.</a:t>
            </a:r>
          </a:p>
          <a:p>
            <a:pPr lvl="0"/>
            <a:r>
              <a:rPr lang="en-US" b="1" dirty="0"/>
              <a:t>Women:</a:t>
            </a:r>
            <a:r>
              <a:rPr lang="en-US" dirty="0"/>
              <a:t> Participate in coordinated dance steps, singing, and instrumental support.</a:t>
            </a:r>
          </a:p>
          <a:p>
            <a:pPr lvl="0"/>
            <a:r>
              <a:rPr lang="en-US" dirty="0"/>
              <a:t>Gender roles reflect societal norms but highlight cooperation and mutual respect.</a:t>
            </a:r>
          </a:p>
          <a:p>
            <a:r>
              <a:rPr lang="en-US" dirty="0"/>
              <a:t>Gender awareness in </a:t>
            </a:r>
            <a:r>
              <a:rPr lang="en-US" dirty="0" err="1"/>
              <a:t>Kilumi</a:t>
            </a:r>
            <a:r>
              <a:rPr lang="en-US" dirty="0"/>
              <a:t> emphasizes equality and the shared contribution of both genders in cultural activities</a:t>
            </a:r>
          </a:p>
        </p:txBody>
      </p:sp>
    </p:spTree>
    <p:extLst>
      <p:ext uri="{BB962C8B-B14F-4D97-AF65-F5344CB8AC3E}">
        <p14:creationId xmlns:p14="http://schemas.microsoft.com/office/powerpoint/2010/main" val="2337643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43929-83A3-43DE-C1AF-A184338EE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MODERN RELEVANCE</a:t>
            </a:r>
            <a:br>
              <a:rPr lang="en-US" b="1" dirty="0"/>
            </a:br>
            <a:br>
              <a:rPr lang="en-US" b="1" dirty="0"/>
            </a:br>
            <a:br>
              <a:rPr lang="en-US" dirty="0"/>
            </a:br>
            <a:r>
              <a:rPr lang="en-US" sz="2700" b="1" dirty="0" err="1"/>
              <a:t>Kilumi</a:t>
            </a:r>
            <a:r>
              <a:rPr lang="en-US" sz="2700" b="1" dirty="0"/>
              <a:t> in Contemporary Society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A378B-8B8D-5B79-D979-53C943532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313899"/>
            <a:ext cx="10131425" cy="5477302"/>
          </a:xfrm>
        </p:spPr>
        <p:txBody>
          <a:bodyPr/>
          <a:lstStyle/>
          <a:p>
            <a:pPr lvl="0"/>
            <a:r>
              <a:rPr lang="en-US" dirty="0"/>
              <a:t>Continues to represent </a:t>
            </a:r>
            <a:r>
              <a:rPr lang="en-US" dirty="0" err="1"/>
              <a:t>Kikamba</a:t>
            </a:r>
            <a:r>
              <a:rPr lang="en-US" dirty="0"/>
              <a:t> cultural identity and heritage.</a:t>
            </a:r>
          </a:p>
          <a:p>
            <a:pPr lvl="0"/>
            <a:r>
              <a:rPr lang="en-US" dirty="0"/>
              <a:t>Performed in schools, cultural festivals, and public events to educate the youth about traditions.</a:t>
            </a:r>
          </a:p>
          <a:p>
            <a:pPr lvl="0"/>
            <a:r>
              <a:rPr lang="en-US" dirty="0"/>
              <a:t>Modern adaptations may include contemporary instruments while maintaining the traditional rhythm and dance.</a:t>
            </a:r>
          </a:p>
          <a:p>
            <a:r>
              <a:rPr lang="en-US" dirty="0"/>
              <a:t>Example: Schools in Machakos County organize </a:t>
            </a:r>
            <a:r>
              <a:rPr lang="en-US" dirty="0" err="1"/>
              <a:t>Kilumi</a:t>
            </a:r>
            <a:r>
              <a:rPr lang="en-US" dirty="0"/>
              <a:t> competitions to engage students in cultural preservation</a:t>
            </a:r>
          </a:p>
        </p:txBody>
      </p:sp>
    </p:spTree>
    <p:extLst>
      <p:ext uri="{BB962C8B-B14F-4D97-AF65-F5344CB8AC3E}">
        <p14:creationId xmlns:p14="http://schemas.microsoft.com/office/powerpoint/2010/main" val="2509258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D12CF-0E14-0AA2-ABD7-291DB8F51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EDUCATIONAL AND COMMUNITY VALUE</a:t>
            </a:r>
            <a:br>
              <a:rPr lang="en-US" b="1" dirty="0"/>
            </a:br>
            <a:br>
              <a:rPr lang="en-US" b="1" dirty="0"/>
            </a:br>
            <a:br>
              <a:rPr lang="en-US" dirty="0"/>
            </a:br>
            <a:r>
              <a:rPr lang="en-US" sz="2700" b="1" dirty="0"/>
              <a:t>Learning from </a:t>
            </a:r>
            <a:r>
              <a:rPr lang="en-US" sz="2700" b="1" dirty="0" err="1"/>
              <a:t>Kilumi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74159-F10E-F037-3994-0BC38842E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409433"/>
            <a:ext cx="10131425" cy="5381767"/>
          </a:xfrm>
        </p:spPr>
        <p:txBody>
          <a:bodyPr/>
          <a:lstStyle/>
          <a:p>
            <a:pPr lvl="0"/>
            <a:r>
              <a:rPr lang="en-US" dirty="0"/>
              <a:t>Provides lessons on social norms, history, and moral values.</a:t>
            </a:r>
          </a:p>
          <a:p>
            <a:pPr lvl="0"/>
            <a:r>
              <a:rPr lang="en-US" dirty="0"/>
              <a:t>Encourages creativity, discipline, and teamwork among dancers.</a:t>
            </a:r>
          </a:p>
          <a:p>
            <a:pPr lvl="0"/>
            <a:r>
              <a:rPr lang="en-US" dirty="0"/>
              <a:t>Strengthens intergenerational bonds by involving elders and youth.</a:t>
            </a:r>
          </a:p>
          <a:p>
            <a:pPr lvl="0"/>
            <a:r>
              <a:rPr lang="en-US" dirty="0"/>
              <a:t>Teaches respect, gender roles, and cooperation within the community.</a:t>
            </a:r>
          </a:p>
          <a:p>
            <a:r>
              <a:rPr lang="en-US" dirty="0"/>
              <a:t>Example: In training workshops, youth learn the history and performance of </a:t>
            </a:r>
            <a:r>
              <a:rPr lang="en-US" dirty="0" err="1"/>
              <a:t>Kilumi</a:t>
            </a:r>
            <a:r>
              <a:rPr lang="en-US" dirty="0"/>
              <a:t> while practicing group coordination</a:t>
            </a:r>
          </a:p>
        </p:txBody>
      </p:sp>
    </p:spTree>
    <p:extLst>
      <p:ext uri="{BB962C8B-B14F-4D97-AF65-F5344CB8AC3E}">
        <p14:creationId xmlns:p14="http://schemas.microsoft.com/office/powerpoint/2010/main" val="850820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75025-96F2-123A-1C56-2A284B15D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PRESERVATION AND PROMOTION</a:t>
            </a:r>
            <a:br>
              <a:rPr lang="en-US" b="1" dirty="0"/>
            </a:br>
            <a:br>
              <a:rPr lang="en-US" b="1" dirty="0"/>
            </a:br>
            <a:br>
              <a:rPr lang="en-US" dirty="0"/>
            </a:br>
            <a:r>
              <a:rPr lang="en-US" sz="2700" b="1" dirty="0"/>
              <a:t>Keeping </a:t>
            </a:r>
            <a:r>
              <a:rPr lang="en-US" sz="2700" b="1" dirty="0" err="1"/>
              <a:t>Kilumi</a:t>
            </a:r>
            <a:r>
              <a:rPr lang="en-US" sz="2700" b="1" dirty="0"/>
              <a:t> Alive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A37E6-5895-0949-F3D5-250216FD5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777923"/>
            <a:ext cx="10131425" cy="5013278"/>
          </a:xfrm>
        </p:spPr>
        <p:txBody>
          <a:bodyPr/>
          <a:lstStyle/>
          <a:p>
            <a:pPr lvl="0"/>
            <a:r>
              <a:rPr lang="en-US" dirty="0"/>
              <a:t>Community workshops and cultural clubs train youth in </a:t>
            </a:r>
            <a:r>
              <a:rPr lang="en-US" dirty="0" err="1"/>
              <a:t>Kilumi</a:t>
            </a:r>
            <a:r>
              <a:rPr lang="en-US" dirty="0"/>
              <a:t> music and dance.</a:t>
            </a:r>
          </a:p>
          <a:p>
            <a:pPr lvl="0"/>
            <a:r>
              <a:rPr lang="en-US" dirty="0"/>
              <a:t>Documentation of songs, rhythms, and dances ensures continuity for future generations.</a:t>
            </a:r>
          </a:p>
          <a:p>
            <a:pPr lvl="0"/>
            <a:r>
              <a:rPr lang="en-US" dirty="0"/>
              <a:t>Collaboration with schools and cultural institutions helps integrate </a:t>
            </a:r>
            <a:r>
              <a:rPr lang="en-US" dirty="0" err="1"/>
              <a:t>Kilumi</a:t>
            </a:r>
            <a:r>
              <a:rPr lang="en-US" dirty="0"/>
              <a:t> into the curriculum.</a:t>
            </a:r>
          </a:p>
          <a:p>
            <a:pPr lvl="0"/>
            <a:r>
              <a:rPr lang="en-US" dirty="0"/>
              <a:t>Cultural festivals and social media promote </a:t>
            </a:r>
            <a:r>
              <a:rPr lang="en-US" dirty="0" err="1"/>
              <a:t>Kilumi</a:t>
            </a:r>
            <a:r>
              <a:rPr lang="en-US" dirty="0"/>
              <a:t> beyond the local community.</a:t>
            </a:r>
          </a:p>
          <a:p>
            <a:pPr lvl="0"/>
            <a:r>
              <a:rPr lang="en-US" dirty="0"/>
              <a:t>Example: Cultural festivals in Nairobi and Makueni County showcase </a:t>
            </a:r>
            <a:r>
              <a:rPr lang="en-US" dirty="0" err="1"/>
              <a:t>Kilumi</a:t>
            </a:r>
            <a:r>
              <a:rPr lang="en-US" dirty="0"/>
              <a:t> performances to national audiences.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447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58524-4C57-1791-2174-C208F1206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CONCLUSION</a:t>
            </a:r>
            <a:br>
              <a:rPr lang="en-US" b="1" dirty="0"/>
            </a:br>
            <a:br>
              <a:rPr lang="en-US" b="1" dirty="0"/>
            </a:br>
            <a:br>
              <a:rPr lang="en-US" dirty="0"/>
            </a:br>
            <a:r>
              <a:rPr lang="en-US" sz="2700" b="1" dirty="0"/>
              <a:t>Summary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FBB20-E899-A867-4BDA-BA688F462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023582"/>
            <a:ext cx="10131425" cy="4767618"/>
          </a:xfrm>
        </p:spPr>
        <p:txBody>
          <a:bodyPr/>
          <a:lstStyle/>
          <a:p>
            <a:pPr lvl="0"/>
            <a:r>
              <a:rPr lang="en-US" dirty="0" err="1"/>
              <a:t>Kilumi</a:t>
            </a:r>
            <a:r>
              <a:rPr lang="en-US" dirty="0"/>
              <a:t> is a cultural expression that preserves </a:t>
            </a:r>
            <a:r>
              <a:rPr lang="en-US" dirty="0" err="1"/>
              <a:t>Kikamba</a:t>
            </a:r>
            <a:r>
              <a:rPr lang="en-US" dirty="0"/>
              <a:t> identity, history, and values.</a:t>
            </a:r>
          </a:p>
          <a:p>
            <a:pPr lvl="0"/>
            <a:r>
              <a:rPr lang="en-US" dirty="0"/>
              <a:t>Educates, entertains, and strengthens community cohesion while promoting social norms.</a:t>
            </a:r>
          </a:p>
          <a:p>
            <a:pPr lvl="0"/>
            <a:r>
              <a:rPr lang="en-US" dirty="0"/>
              <a:t>Understanding gender roles in </a:t>
            </a:r>
            <a:r>
              <a:rPr lang="en-US" dirty="0" err="1"/>
              <a:t>Kilumi</a:t>
            </a:r>
            <a:r>
              <a:rPr lang="en-US" dirty="0"/>
              <a:t> highlights equality, respect, and collaboration.</a:t>
            </a:r>
          </a:p>
          <a:p>
            <a:pPr lvl="0"/>
            <a:r>
              <a:rPr lang="en-US" dirty="0"/>
              <a:t>Modern society benefits from preserving, performing, and promoting </a:t>
            </a:r>
            <a:r>
              <a:rPr lang="en-US" dirty="0" err="1"/>
              <a:t>Kilumi</a:t>
            </a:r>
            <a:r>
              <a:rPr lang="en-US" dirty="0"/>
              <a:t> as part of African cultural diversity.</a:t>
            </a:r>
          </a:p>
          <a:p>
            <a:pPr lvl="0"/>
            <a:r>
              <a:rPr lang="en-US" dirty="0"/>
              <a:t>Supporting </a:t>
            </a:r>
            <a:r>
              <a:rPr lang="en-US" dirty="0" err="1"/>
              <a:t>Kilumi</a:t>
            </a:r>
            <a:r>
              <a:rPr lang="en-US" dirty="0"/>
              <a:t> ensures </a:t>
            </a:r>
            <a:r>
              <a:rPr lang="en-US" dirty="0" err="1"/>
              <a:t>Kikamba</a:t>
            </a:r>
            <a:r>
              <a:rPr lang="en-US" dirty="0"/>
              <a:t> music and dance remain a vibrant, living tradition.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89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{70E7A8AE-59B2-4E36-9486-CD8444D5D3F0}TFb5ae2469-0bae-4978-b0e0-39dd046150ff9a115ede-a9c3cc5252b0</Template>
  <TotalTime>988</TotalTime>
  <Words>805</Words>
  <Application>Microsoft Office PowerPoint</Application>
  <PresentationFormat>Widescreen</PresentationFormat>
  <Paragraphs>61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Celestial</vt:lpstr>
      <vt:lpstr> KILUMI DANCE KIKAMBA TRADITIONAL                               MUSIC AND DANCE</vt:lpstr>
      <vt:lpstr>INTRODUCTION   Kilumi Dance and Kikamba Culture </vt:lpstr>
      <vt:lpstr>HISTORY AND ORIGINS   Origins of Kilumi </vt:lpstr>
      <vt:lpstr>TRADITIONAL INSTRUMENTS   Instruments Used in Kilumi </vt:lpstr>
      <vt:lpstr>DANCE MOVEMENTS   Characteristics of Kilumi Dance </vt:lpstr>
      <vt:lpstr>SOCIAL AND CULTURAL SIGNIFICANCE   Importance of Kilumi </vt:lpstr>
      <vt:lpstr>GENDER ROLES IN KILUMI   Men and Women in Kilumi </vt:lpstr>
      <vt:lpstr>MODERN RELEVANCE   Kilumi in Contemporary Society </vt:lpstr>
      <vt:lpstr>EDUCATIONAL AND COMMUNITY VALUE   Learning from Kilumi </vt:lpstr>
      <vt:lpstr>PRESERVATION AND PROMOTION   Keeping Kilumi Alive </vt:lpstr>
      <vt:lpstr>CONCLUSION   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KIPNGENOMTAI</dc:creator>
  <cp:lastModifiedBy>KIPNGENOMTAI</cp:lastModifiedBy>
  <cp:revision>3</cp:revision>
  <dcterms:created xsi:type="dcterms:W3CDTF">2026-01-14T19:47:50Z</dcterms:created>
  <dcterms:modified xsi:type="dcterms:W3CDTF">2026-01-16T15:52:00Z</dcterms:modified>
</cp:coreProperties>
</file>